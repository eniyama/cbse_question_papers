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3" r:id="rId2"/>
    <p:sldId id="270" r:id="rId3"/>
    <p:sldId id="276" r:id="rId4"/>
    <p:sldId id="288" r:id="rId5"/>
    <p:sldId id="278" r:id="rId6"/>
    <p:sldId id="279" r:id="rId7"/>
    <p:sldId id="280" r:id="rId8"/>
    <p:sldId id="281" r:id="rId9"/>
    <p:sldId id="282" r:id="rId10"/>
    <p:sldId id="283" r:id="rId11"/>
    <p:sldId id="287" r:id="rId12"/>
    <p:sldId id="285" r:id="rId13"/>
    <p:sldId id="2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60"/>
  </p:normalViewPr>
  <p:slideViewPr>
    <p:cSldViewPr snapToGrid="0">
      <p:cViewPr varScale="1">
        <p:scale>
          <a:sx n="59" d="100"/>
          <a:sy n="59" d="100"/>
        </p:scale>
        <p:origin x="684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2FF2DD-AAFA-4AC1-80BC-B5B674A2E507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4479405-7023-4CDC-B206-3EAA9C79D3AA}">
      <dgm:prSet phldrT="[Text]" phldr="0"/>
      <dgm:spPr/>
      <dgm:t>
        <a:bodyPr/>
        <a:lstStyle/>
        <a:p>
          <a:r>
            <a:rPr lang="en-IN" dirty="0"/>
            <a:t>🍛 Needs: Food, Water</a:t>
          </a:r>
        </a:p>
        <a:p>
          <a:r>
            <a:rPr lang="en-IN" dirty="0"/>
            <a:t>🎮 Wants: Toys, Chocolates</a:t>
          </a:r>
        </a:p>
        <a:p>
          <a:r>
            <a:rPr lang="en-GB" dirty="0"/>
            <a:t>👉 Example: Books = Need </a:t>
          </a:r>
        </a:p>
        <a:p>
          <a:r>
            <a:rPr lang="en-GB" dirty="0"/>
            <a:t>Headphones = Want</a:t>
          </a:r>
          <a:endParaRPr lang="en-IN" dirty="0"/>
        </a:p>
      </dgm:t>
    </dgm:pt>
    <dgm:pt modelId="{600D81C7-152F-4048-B6E6-9B2FFBF6BFC9}" type="parTrans" cxnId="{BA6CA5F7-C9DC-40DF-AE80-A7BA9432D7EB}">
      <dgm:prSet/>
      <dgm:spPr/>
      <dgm:t>
        <a:bodyPr/>
        <a:lstStyle/>
        <a:p>
          <a:endParaRPr lang="en-IN"/>
        </a:p>
      </dgm:t>
    </dgm:pt>
    <dgm:pt modelId="{B4886456-0835-4334-8187-4E3C556B15AE}" type="sibTrans" cxnId="{BA6CA5F7-C9DC-40DF-AE80-A7BA9432D7EB}">
      <dgm:prSet/>
      <dgm:spPr/>
      <dgm:t>
        <a:bodyPr/>
        <a:lstStyle/>
        <a:p>
          <a:endParaRPr lang="en-IN"/>
        </a:p>
      </dgm:t>
    </dgm:pt>
    <dgm:pt modelId="{1699A489-0909-4DBE-921D-020C021F2917}">
      <dgm:prSet phldrT="[Text]"/>
      <dgm:spPr/>
      <dgm:t>
        <a:bodyPr/>
        <a:lstStyle/>
        <a:p>
          <a:r>
            <a:rPr lang="en-GB" dirty="0"/>
            <a:t>Asset: Gives money Liability: Takes money</a:t>
          </a:r>
        </a:p>
        <a:p>
          <a:r>
            <a:rPr lang="en-IN" dirty="0"/>
            <a:t>👉 Example: </a:t>
          </a:r>
        </a:p>
        <a:p>
          <a:r>
            <a:rPr lang="en-IN" dirty="0"/>
            <a:t>Gold = Asset</a:t>
          </a:r>
        </a:p>
      </dgm:t>
    </dgm:pt>
    <dgm:pt modelId="{BE1B70A3-BD5E-4F13-BCEF-B97DFDDF42EA}" type="parTrans" cxnId="{6AA8D700-AC14-4573-B6EA-4BDA66CDDED2}">
      <dgm:prSet/>
      <dgm:spPr/>
      <dgm:t>
        <a:bodyPr/>
        <a:lstStyle/>
        <a:p>
          <a:endParaRPr lang="en-IN"/>
        </a:p>
      </dgm:t>
    </dgm:pt>
    <dgm:pt modelId="{E010C8CF-182F-45BC-B0ED-CA56CD9D282D}" type="sibTrans" cxnId="{6AA8D700-AC14-4573-B6EA-4BDA66CDDED2}">
      <dgm:prSet/>
      <dgm:spPr/>
      <dgm:t>
        <a:bodyPr/>
        <a:lstStyle/>
        <a:p>
          <a:endParaRPr lang="en-IN"/>
        </a:p>
      </dgm:t>
    </dgm:pt>
    <dgm:pt modelId="{510795C8-FF98-4DDB-9592-3D6C12E8B009}">
      <dgm:prSet phldrT="[Text]"/>
      <dgm:spPr/>
      <dgm:t>
        <a:bodyPr/>
        <a:lstStyle/>
        <a:p>
          <a:r>
            <a:rPr lang="en-IN" dirty="0"/>
            <a:t>📌 Importance of Saving </a:t>
          </a:r>
        </a:p>
        <a:p>
          <a:r>
            <a:rPr lang="en-GB" dirty="0"/>
            <a:t>Save ₹10 daily → ₹300/month</a:t>
          </a:r>
          <a:endParaRPr lang="en-IN" dirty="0"/>
        </a:p>
      </dgm:t>
    </dgm:pt>
    <dgm:pt modelId="{F2BAF2B9-98FB-4CC7-B52C-FBE02A1F7D11}" type="parTrans" cxnId="{74179F2E-0C36-442A-A238-5494B7685FA9}">
      <dgm:prSet/>
      <dgm:spPr/>
      <dgm:t>
        <a:bodyPr/>
        <a:lstStyle/>
        <a:p>
          <a:endParaRPr lang="en-IN"/>
        </a:p>
      </dgm:t>
    </dgm:pt>
    <dgm:pt modelId="{30D1470E-4B44-44B3-837E-49DF9047C255}" type="sibTrans" cxnId="{74179F2E-0C36-442A-A238-5494B7685FA9}">
      <dgm:prSet/>
      <dgm:spPr/>
      <dgm:t>
        <a:bodyPr/>
        <a:lstStyle/>
        <a:p>
          <a:endParaRPr lang="en-IN"/>
        </a:p>
      </dgm:t>
    </dgm:pt>
    <dgm:pt modelId="{FC2724B8-27DA-42C0-B7FB-B17CAE7811D8}" type="pres">
      <dgm:prSet presAssocID="{A82FF2DD-AAFA-4AC1-80BC-B5B674A2E507}" presName="Name0" presStyleCnt="0">
        <dgm:presLayoutVars>
          <dgm:dir/>
          <dgm:resizeHandles val="exact"/>
        </dgm:presLayoutVars>
      </dgm:prSet>
      <dgm:spPr/>
    </dgm:pt>
    <dgm:pt modelId="{22BB9C1E-7870-4411-A636-BD88B261251A}" type="pres">
      <dgm:prSet presAssocID="{A82FF2DD-AAFA-4AC1-80BC-B5B674A2E507}" presName="bkgdShp" presStyleLbl="alignAccFollowNode1" presStyleIdx="0" presStyleCnt="1" custLinFactNeighborX="397" custLinFactNeighborY="493"/>
      <dgm:spPr/>
    </dgm:pt>
    <dgm:pt modelId="{E7207F9C-CE93-4DBC-A6AB-8207E716EBA8}" type="pres">
      <dgm:prSet presAssocID="{A82FF2DD-AAFA-4AC1-80BC-B5B674A2E507}" presName="linComp" presStyleCnt="0"/>
      <dgm:spPr/>
    </dgm:pt>
    <dgm:pt modelId="{479AD6AB-75FA-4D85-99C4-1CD9FC8391C5}" type="pres">
      <dgm:prSet presAssocID="{D4479405-7023-4CDC-B206-3EAA9C79D3AA}" presName="compNode" presStyleCnt="0"/>
      <dgm:spPr/>
    </dgm:pt>
    <dgm:pt modelId="{94D22E54-CE78-471B-BBB6-1EBE87F85628}" type="pres">
      <dgm:prSet presAssocID="{D4479405-7023-4CDC-B206-3EAA9C79D3AA}" presName="node" presStyleLbl="node1" presStyleIdx="0" presStyleCnt="3" custScaleX="106942">
        <dgm:presLayoutVars>
          <dgm:bulletEnabled val="1"/>
        </dgm:presLayoutVars>
      </dgm:prSet>
      <dgm:spPr/>
    </dgm:pt>
    <dgm:pt modelId="{ADFA7F8B-C9F2-420A-99E3-D53D6AC46F7C}" type="pres">
      <dgm:prSet presAssocID="{D4479405-7023-4CDC-B206-3EAA9C79D3AA}" presName="invisiNode" presStyleLbl="node1" presStyleIdx="0" presStyleCnt="3"/>
      <dgm:spPr/>
    </dgm:pt>
    <dgm:pt modelId="{18FC3887-C16D-4F84-B082-F1BAE98F899C}" type="pres">
      <dgm:prSet presAssocID="{D4479405-7023-4CDC-B206-3EAA9C79D3AA}" presName="imagNode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5000" r="-5000"/>
          </a:stretch>
        </a:blipFill>
      </dgm:spPr>
    </dgm:pt>
    <dgm:pt modelId="{FB02EE05-4ED6-4749-8B37-224823F646E5}" type="pres">
      <dgm:prSet presAssocID="{B4886456-0835-4334-8187-4E3C556B15AE}" presName="sibTrans" presStyleLbl="sibTrans2D1" presStyleIdx="0" presStyleCnt="0"/>
      <dgm:spPr/>
    </dgm:pt>
    <dgm:pt modelId="{6A3B9577-DEB3-46BF-8B83-E164AB9048B3}" type="pres">
      <dgm:prSet presAssocID="{1699A489-0909-4DBE-921D-020C021F2917}" presName="compNode" presStyleCnt="0"/>
      <dgm:spPr/>
    </dgm:pt>
    <dgm:pt modelId="{EDDFD6A5-A789-41AE-A05A-863C7AD03DE5}" type="pres">
      <dgm:prSet presAssocID="{1699A489-0909-4DBE-921D-020C021F2917}" presName="node" presStyleLbl="node1" presStyleIdx="1" presStyleCnt="3">
        <dgm:presLayoutVars>
          <dgm:bulletEnabled val="1"/>
        </dgm:presLayoutVars>
      </dgm:prSet>
      <dgm:spPr/>
    </dgm:pt>
    <dgm:pt modelId="{294AD14D-F27B-4825-A2DB-3100D7F8A88B}" type="pres">
      <dgm:prSet presAssocID="{1699A489-0909-4DBE-921D-020C021F2917}" presName="invisiNode" presStyleLbl="node1" presStyleIdx="1" presStyleCnt="3"/>
      <dgm:spPr/>
    </dgm:pt>
    <dgm:pt modelId="{80FC4497-A368-436A-BC46-805661AA5EE1}" type="pres">
      <dgm:prSet presAssocID="{1699A489-0909-4DBE-921D-020C021F2917}" presName="imagNod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21000" r="-21000"/>
          </a:stretch>
        </a:blipFill>
      </dgm:spPr>
    </dgm:pt>
    <dgm:pt modelId="{F2934F09-7505-41A2-8822-0E0B1403A51D}" type="pres">
      <dgm:prSet presAssocID="{E010C8CF-182F-45BC-B0ED-CA56CD9D282D}" presName="sibTrans" presStyleLbl="sibTrans2D1" presStyleIdx="0" presStyleCnt="0"/>
      <dgm:spPr/>
    </dgm:pt>
    <dgm:pt modelId="{1FE1F725-A468-4A2B-AECD-911650CBC53C}" type="pres">
      <dgm:prSet presAssocID="{510795C8-FF98-4DDB-9592-3D6C12E8B009}" presName="compNode" presStyleCnt="0"/>
      <dgm:spPr/>
    </dgm:pt>
    <dgm:pt modelId="{D178B853-B98A-4211-B6E8-BA1EEAEEDD17}" type="pres">
      <dgm:prSet presAssocID="{510795C8-FF98-4DDB-9592-3D6C12E8B009}" presName="node" presStyleLbl="node1" presStyleIdx="2" presStyleCnt="3">
        <dgm:presLayoutVars>
          <dgm:bulletEnabled val="1"/>
        </dgm:presLayoutVars>
      </dgm:prSet>
      <dgm:spPr/>
    </dgm:pt>
    <dgm:pt modelId="{0B8AB3ED-CC65-4499-AB57-9BE79C1B97E5}" type="pres">
      <dgm:prSet presAssocID="{510795C8-FF98-4DDB-9592-3D6C12E8B009}" presName="invisiNode" presStyleLbl="node1" presStyleIdx="2" presStyleCnt="3"/>
      <dgm:spPr/>
    </dgm:pt>
    <dgm:pt modelId="{8E1E778C-B206-4520-B74B-FED6BA453322}" type="pres">
      <dgm:prSet presAssocID="{510795C8-FF98-4DDB-9592-3D6C12E8B009}" presName="imagNod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10000" r="-10000"/>
          </a:stretch>
        </a:blipFill>
      </dgm:spPr>
    </dgm:pt>
  </dgm:ptLst>
  <dgm:cxnLst>
    <dgm:cxn modelId="{6AA8D700-AC14-4573-B6EA-4BDA66CDDED2}" srcId="{A82FF2DD-AAFA-4AC1-80BC-B5B674A2E507}" destId="{1699A489-0909-4DBE-921D-020C021F2917}" srcOrd="1" destOrd="0" parTransId="{BE1B70A3-BD5E-4F13-BCEF-B97DFDDF42EA}" sibTransId="{E010C8CF-182F-45BC-B0ED-CA56CD9D282D}"/>
    <dgm:cxn modelId="{BF74B90A-34EE-4BF1-A74E-0BBDC7898124}" type="presOf" srcId="{A82FF2DD-AAFA-4AC1-80BC-B5B674A2E507}" destId="{FC2724B8-27DA-42C0-B7FB-B17CAE7811D8}" srcOrd="0" destOrd="0" presId="urn:microsoft.com/office/officeart/2005/8/layout/pList2"/>
    <dgm:cxn modelId="{F89E8B0C-2ED2-481A-8C99-18A47EF43C5C}" type="presOf" srcId="{E010C8CF-182F-45BC-B0ED-CA56CD9D282D}" destId="{F2934F09-7505-41A2-8822-0E0B1403A51D}" srcOrd="0" destOrd="0" presId="urn:microsoft.com/office/officeart/2005/8/layout/pList2"/>
    <dgm:cxn modelId="{74179F2E-0C36-442A-A238-5494B7685FA9}" srcId="{A82FF2DD-AAFA-4AC1-80BC-B5B674A2E507}" destId="{510795C8-FF98-4DDB-9592-3D6C12E8B009}" srcOrd="2" destOrd="0" parTransId="{F2BAF2B9-98FB-4CC7-B52C-FBE02A1F7D11}" sibTransId="{30D1470E-4B44-44B3-837E-49DF9047C255}"/>
    <dgm:cxn modelId="{B0498F3C-D9A6-4747-9D34-8711FAD275F7}" type="presOf" srcId="{510795C8-FF98-4DDB-9592-3D6C12E8B009}" destId="{D178B853-B98A-4211-B6E8-BA1EEAEEDD17}" srcOrd="0" destOrd="0" presId="urn:microsoft.com/office/officeart/2005/8/layout/pList2"/>
    <dgm:cxn modelId="{DB0ECC4A-5F8C-44E8-BFAD-C7631DCD8C15}" type="presOf" srcId="{D4479405-7023-4CDC-B206-3EAA9C79D3AA}" destId="{94D22E54-CE78-471B-BBB6-1EBE87F85628}" srcOrd="0" destOrd="0" presId="urn:microsoft.com/office/officeart/2005/8/layout/pList2"/>
    <dgm:cxn modelId="{2970D096-9F31-4C15-A763-73B2870A8CC2}" type="presOf" srcId="{1699A489-0909-4DBE-921D-020C021F2917}" destId="{EDDFD6A5-A789-41AE-A05A-863C7AD03DE5}" srcOrd="0" destOrd="0" presId="urn:microsoft.com/office/officeart/2005/8/layout/pList2"/>
    <dgm:cxn modelId="{C0468DE2-5AFB-4A3E-AE04-7DA1254ACBF2}" type="presOf" srcId="{B4886456-0835-4334-8187-4E3C556B15AE}" destId="{FB02EE05-4ED6-4749-8B37-224823F646E5}" srcOrd="0" destOrd="0" presId="urn:microsoft.com/office/officeart/2005/8/layout/pList2"/>
    <dgm:cxn modelId="{BA6CA5F7-C9DC-40DF-AE80-A7BA9432D7EB}" srcId="{A82FF2DD-AAFA-4AC1-80BC-B5B674A2E507}" destId="{D4479405-7023-4CDC-B206-3EAA9C79D3AA}" srcOrd="0" destOrd="0" parTransId="{600D81C7-152F-4048-B6E6-9B2FFBF6BFC9}" sibTransId="{B4886456-0835-4334-8187-4E3C556B15AE}"/>
    <dgm:cxn modelId="{7C93AAC6-687B-4E0C-8CED-D99DFE9B5001}" type="presParOf" srcId="{FC2724B8-27DA-42C0-B7FB-B17CAE7811D8}" destId="{22BB9C1E-7870-4411-A636-BD88B261251A}" srcOrd="0" destOrd="0" presId="urn:microsoft.com/office/officeart/2005/8/layout/pList2"/>
    <dgm:cxn modelId="{0AA48FD5-6DFD-4181-A780-85C6CFA36C9B}" type="presParOf" srcId="{FC2724B8-27DA-42C0-B7FB-B17CAE7811D8}" destId="{E7207F9C-CE93-4DBC-A6AB-8207E716EBA8}" srcOrd="1" destOrd="0" presId="urn:microsoft.com/office/officeart/2005/8/layout/pList2"/>
    <dgm:cxn modelId="{B8A8671A-C8FF-4ABE-B1B9-A116E989DACD}" type="presParOf" srcId="{E7207F9C-CE93-4DBC-A6AB-8207E716EBA8}" destId="{479AD6AB-75FA-4D85-99C4-1CD9FC8391C5}" srcOrd="0" destOrd="0" presId="urn:microsoft.com/office/officeart/2005/8/layout/pList2"/>
    <dgm:cxn modelId="{9AC6D77A-8F05-47B8-B27F-E1674008D478}" type="presParOf" srcId="{479AD6AB-75FA-4D85-99C4-1CD9FC8391C5}" destId="{94D22E54-CE78-471B-BBB6-1EBE87F85628}" srcOrd="0" destOrd="0" presId="urn:microsoft.com/office/officeart/2005/8/layout/pList2"/>
    <dgm:cxn modelId="{8F20E291-C3CE-4E07-8941-D4B55B3B9D06}" type="presParOf" srcId="{479AD6AB-75FA-4D85-99C4-1CD9FC8391C5}" destId="{ADFA7F8B-C9F2-420A-99E3-D53D6AC46F7C}" srcOrd="1" destOrd="0" presId="urn:microsoft.com/office/officeart/2005/8/layout/pList2"/>
    <dgm:cxn modelId="{FFB608AA-027E-4E78-8627-D275FD3E9C93}" type="presParOf" srcId="{479AD6AB-75FA-4D85-99C4-1CD9FC8391C5}" destId="{18FC3887-C16D-4F84-B082-F1BAE98F899C}" srcOrd="2" destOrd="0" presId="urn:microsoft.com/office/officeart/2005/8/layout/pList2"/>
    <dgm:cxn modelId="{9F98D183-335B-4E81-84F7-5576D0977163}" type="presParOf" srcId="{E7207F9C-CE93-4DBC-A6AB-8207E716EBA8}" destId="{FB02EE05-4ED6-4749-8B37-224823F646E5}" srcOrd="1" destOrd="0" presId="urn:microsoft.com/office/officeart/2005/8/layout/pList2"/>
    <dgm:cxn modelId="{D5F6583B-C44E-4FB9-9300-AD49535E5319}" type="presParOf" srcId="{E7207F9C-CE93-4DBC-A6AB-8207E716EBA8}" destId="{6A3B9577-DEB3-46BF-8B83-E164AB9048B3}" srcOrd="2" destOrd="0" presId="urn:microsoft.com/office/officeart/2005/8/layout/pList2"/>
    <dgm:cxn modelId="{DB0311F1-4396-42D4-8397-72EC4D1D4628}" type="presParOf" srcId="{6A3B9577-DEB3-46BF-8B83-E164AB9048B3}" destId="{EDDFD6A5-A789-41AE-A05A-863C7AD03DE5}" srcOrd="0" destOrd="0" presId="urn:microsoft.com/office/officeart/2005/8/layout/pList2"/>
    <dgm:cxn modelId="{D3BB0F5E-F64D-4A98-9FBF-FABF700F4F5E}" type="presParOf" srcId="{6A3B9577-DEB3-46BF-8B83-E164AB9048B3}" destId="{294AD14D-F27B-4825-A2DB-3100D7F8A88B}" srcOrd="1" destOrd="0" presId="urn:microsoft.com/office/officeart/2005/8/layout/pList2"/>
    <dgm:cxn modelId="{E1AA2BDA-5F54-4CE3-B2E8-68C7FC37D5D2}" type="presParOf" srcId="{6A3B9577-DEB3-46BF-8B83-E164AB9048B3}" destId="{80FC4497-A368-436A-BC46-805661AA5EE1}" srcOrd="2" destOrd="0" presId="urn:microsoft.com/office/officeart/2005/8/layout/pList2"/>
    <dgm:cxn modelId="{F01AAC88-3AFE-4B5D-A26E-7ED5256B8283}" type="presParOf" srcId="{E7207F9C-CE93-4DBC-A6AB-8207E716EBA8}" destId="{F2934F09-7505-41A2-8822-0E0B1403A51D}" srcOrd="3" destOrd="0" presId="urn:microsoft.com/office/officeart/2005/8/layout/pList2"/>
    <dgm:cxn modelId="{C00BDC00-8518-4AF3-9D1F-93A7F5296033}" type="presParOf" srcId="{E7207F9C-CE93-4DBC-A6AB-8207E716EBA8}" destId="{1FE1F725-A468-4A2B-AECD-911650CBC53C}" srcOrd="4" destOrd="0" presId="urn:microsoft.com/office/officeart/2005/8/layout/pList2"/>
    <dgm:cxn modelId="{A30ADAB5-4E39-4AD4-982D-C25F8CA029DC}" type="presParOf" srcId="{1FE1F725-A468-4A2B-AECD-911650CBC53C}" destId="{D178B853-B98A-4211-B6E8-BA1EEAEEDD17}" srcOrd="0" destOrd="0" presId="urn:microsoft.com/office/officeart/2005/8/layout/pList2"/>
    <dgm:cxn modelId="{77368755-D96B-45EC-86E2-22BAC9096F88}" type="presParOf" srcId="{1FE1F725-A468-4A2B-AECD-911650CBC53C}" destId="{0B8AB3ED-CC65-4499-AB57-9BE79C1B97E5}" srcOrd="1" destOrd="0" presId="urn:microsoft.com/office/officeart/2005/8/layout/pList2"/>
    <dgm:cxn modelId="{1FE872FA-B1D0-4BB8-907F-0B8D208757F1}" type="presParOf" srcId="{1FE1F725-A468-4A2B-AECD-911650CBC53C}" destId="{8E1E778C-B206-4520-B74B-FED6BA453322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CDB569-D76D-4634-89A7-BDF9CDC45BF1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5918E66-A8B5-4766-AEDA-55400E1C1241}">
      <dgm:prSet phldrT="[Text]"/>
      <dgm:spPr/>
      <dgm:t>
        <a:bodyPr/>
        <a:lstStyle/>
        <a:p>
          <a:r>
            <a:rPr lang="en-GB" dirty="0"/>
            <a:t>🛡️Moat:-A strong advantage that protects a company from competitors Like a castle moat 🏰  keeps enemies away</a:t>
          </a:r>
          <a:endParaRPr lang="en-IN" dirty="0"/>
        </a:p>
      </dgm:t>
    </dgm:pt>
    <dgm:pt modelId="{E98D6B41-2A2A-4ADE-9023-BFCE07B0A6D4}" type="parTrans" cxnId="{E519BD2F-E7D8-464E-B5EE-FE4594D546F2}">
      <dgm:prSet/>
      <dgm:spPr/>
      <dgm:t>
        <a:bodyPr/>
        <a:lstStyle/>
        <a:p>
          <a:endParaRPr lang="en-IN"/>
        </a:p>
      </dgm:t>
    </dgm:pt>
    <dgm:pt modelId="{D6AB6520-2E2F-4CC5-89BC-02FA12C09182}" type="sibTrans" cxnId="{E519BD2F-E7D8-464E-B5EE-FE4594D546F2}">
      <dgm:prSet/>
      <dgm:spPr/>
      <dgm:t>
        <a:bodyPr/>
        <a:lstStyle/>
        <a:p>
          <a:endParaRPr lang="en-IN"/>
        </a:p>
      </dgm:t>
    </dgm:pt>
    <dgm:pt modelId="{3F49022C-79F8-488B-B7BB-4E025C1895A8}">
      <dgm:prSet phldrT="[Text]"/>
      <dgm:spPr/>
      <dgm:t>
        <a:bodyPr/>
        <a:lstStyle/>
        <a:p>
          <a:r>
            <a:rPr lang="en-GB" dirty="0"/>
            <a:t>💡Helps company stay ahead of competitors Earn profits for long time</a:t>
          </a:r>
          <a:endParaRPr lang="en-IN" dirty="0"/>
        </a:p>
      </dgm:t>
    </dgm:pt>
    <dgm:pt modelId="{153FC8AE-3CDE-4F16-8580-527ED63DCEC0}" type="parTrans" cxnId="{CD488010-51C7-400F-B0D1-91EDAAC00FF7}">
      <dgm:prSet/>
      <dgm:spPr/>
      <dgm:t>
        <a:bodyPr/>
        <a:lstStyle/>
        <a:p>
          <a:endParaRPr lang="en-IN"/>
        </a:p>
      </dgm:t>
    </dgm:pt>
    <dgm:pt modelId="{50BE3CFF-42C4-4BC0-9D84-F1744DB6FA5D}" type="sibTrans" cxnId="{CD488010-51C7-400F-B0D1-91EDAAC00FF7}">
      <dgm:prSet/>
      <dgm:spPr/>
      <dgm:t>
        <a:bodyPr/>
        <a:lstStyle/>
        <a:p>
          <a:endParaRPr lang="en-IN"/>
        </a:p>
      </dgm:t>
    </dgm:pt>
    <dgm:pt modelId="{D3944190-8C7B-48C1-8C50-4D0157B897D7}">
      <dgm:prSet phldrT="[Text]"/>
      <dgm:spPr/>
      <dgm:t>
        <a:bodyPr/>
        <a:lstStyle/>
        <a:p>
          <a:r>
            <a:rPr lang="en-GB" dirty="0"/>
            <a:t>🚧 Types of Moat</a:t>
          </a:r>
        </a:p>
        <a:p>
          <a:r>
            <a:rPr lang="en-GB" dirty="0"/>
            <a:t>⭐ Brand Power (e.g., famous companies)</a:t>
          </a:r>
        </a:p>
        <a:p>
          <a:r>
            <a:rPr lang="en-GB" dirty="0"/>
            <a:t>💰 Cost Advantage (cheaper production)</a:t>
          </a:r>
        </a:p>
        <a:p>
          <a:r>
            <a:rPr lang="en-GB" dirty="0"/>
            <a:t>🔐 Switching Cost (hard to change service)</a:t>
          </a:r>
        </a:p>
        <a:p>
          <a:r>
            <a:rPr lang="en-GB" dirty="0"/>
            <a:t>🌐 Network Effect (more users = more value)</a:t>
          </a:r>
          <a:endParaRPr lang="en-IN" dirty="0"/>
        </a:p>
      </dgm:t>
    </dgm:pt>
    <dgm:pt modelId="{59747621-5E22-4602-86CE-F0C74C7F059C}" type="parTrans" cxnId="{995EFED6-DE82-4597-832D-0C7942D5D3DC}">
      <dgm:prSet/>
      <dgm:spPr/>
      <dgm:t>
        <a:bodyPr/>
        <a:lstStyle/>
        <a:p>
          <a:endParaRPr lang="en-IN"/>
        </a:p>
      </dgm:t>
    </dgm:pt>
    <dgm:pt modelId="{A5F41C4C-6B35-429F-8A5D-E33D21C717C5}" type="sibTrans" cxnId="{995EFED6-DE82-4597-832D-0C7942D5D3DC}">
      <dgm:prSet/>
      <dgm:spPr/>
      <dgm:t>
        <a:bodyPr/>
        <a:lstStyle/>
        <a:p>
          <a:endParaRPr lang="en-IN"/>
        </a:p>
      </dgm:t>
    </dgm:pt>
    <dgm:pt modelId="{22C63AA9-7140-4790-AC36-9BE6859B3310}" type="pres">
      <dgm:prSet presAssocID="{32CDB569-D76D-4634-89A7-BDF9CDC45BF1}" presName="Name0" presStyleCnt="0">
        <dgm:presLayoutVars>
          <dgm:dir/>
          <dgm:resizeHandles val="exact"/>
        </dgm:presLayoutVars>
      </dgm:prSet>
      <dgm:spPr/>
    </dgm:pt>
    <dgm:pt modelId="{D4C99862-DFD6-4191-BB94-B0EEDF0C6EC1}" type="pres">
      <dgm:prSet presAssocID="{25918E66-A8B5-4766-AEDA-55400E1C1241}" presName="composite" presStyleCnt="0"/>
      <dgm:spPr/>
    </dgm:pt>
    <dgm:pt modelId="{5ADADFFA-9406-43A9-BFE6-17226E57FA15}" type="pres">
      <dgm:prSet presAssocID="{25918E66-A8B5-4766-AEDA-55400E1C1241}" presName="rect1" presStyleLbl="trAlignAcc1" presStyleIdx="0" presStyleCnt="3" custScaleY="145891" custLinFactNeighborY="-44425">
        <dgm:presLayoutVars>
          <dgm:bulletEnabled val="1"/>
        </dgm:presLayoutVars>
      </dgm:prSet>
      <dgm:spPr/>
    </dgm:pt>
    <dgm:pt modelId="{F411013F-BE19-43F2-9E52-38B7CBE946E0}" type="pres">
      <dgm:prSet presAssocID="{25918E66-A8B5-4766-AEDA-55400E1C1241}" presName="rect2" presStyleLbl="fgImgPlace1" presStyleIdx="0" presStyleCnt="3" custLinFactNeighborX="-50292" custLinFactNeighborY="1727"/>
      <dgm:spPr>
        <a:blipFill>
          <a:blip xmlns:r="http://schemas.openxmlformats.org/officeDocument/2006/relationships" r:embed="rId1"/>
          <a:srcRect/>
          <a:stretch>
            <a:fillRect l="-66000" r="-66000"/>
          </a:stretch>
        </a:blipFill>
      </dgm:spPr>
    </dgm:pt>
    <dgm:pt modelId="{031A148A-630F-41F8-99C4-FB4BC26165A6}" type="pres">
      <dgm:prSet presAssocID="{D6AB6520-2E2F-4CC5-89BC-02FA12C09182}" presName="sibTrans" presStyleCnt="0"/>
      <dgm:spPr/>
    </dgm:pt>
    <dgm:pt modelId="{91F59840-4B5E-4AF8-9589-FA319F2527C6}" type="pres">
      <dgm:prSet presAssocID="{3F49022C-79F8-488B-B7BB-4E025C1895A8}" presName="composite" presStyleCnt="0"/>
      <dgm:spPr/>
    </dgm:pt>
    <dgm:pt modelId="{43328182-6E03-4ED9-8CD4-104E4FB27CCF}" type="pres">
      <dgm:prSet presAssocID="{3F49022C-79F8-488B-B7BB-4E025C1895A8}" presName="rect1" presStyleLbl="trAlignAcc1" presStyleIdx="1" presStyleCnt="3" custScaleY="153144" custLinFactNeighborX="-2550" custLinFactNeighborY="-45331">
        <dgm:presLayoutVars>
          <dgm:bulletEnabled val="1"/>
        </dgm:presLayoutVars>
      </dgm:prSet>
      <dgm:spPr/>
    </dgm:pt>
    <dgm:pt modelId="{769F5C34-5256-48BC-BC38-21EC9E8DFC90}" type="pres">
      <dgm:prSet presAssocID="{3F49022C-79F8-488B-B7BB-4E025C1895A8}" presName="rect2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49000" r="-49000"/>
          </a:stretch>
        </a:blipFill>
      </dgm:spPr>
    </dgm:pt>
    <dgm:pt modelId="{64AE1EBC-75F3-47DF-BE5D-C224AEC202E0}" type="pres">
      <dgm:prSet presAssocID="{50BE3CFF-42C4-4BC0-9D84-F1744DB6FA5D}" presName="sibTrans" presStyleCnt="0"/>
      <dgm:spPr/>
    </dgm:pt>
    <dgm:pt modelId="{4048ECF3-BD0B-42EA-AB9C-F3781BEAB854}" type="pres">
      <dgm:prSet presAssocID="{D3944190-8C7B-48C1-8C50-4D0157B897D7}" presName="composite" presStyleCnt="0"/>
      <dgm:spPr/>
    </dgm:pt>
    <dgm:pt modelId="{AEACF7CA-537C-4AF9-8C71-05DF92CFD0E9}" type="pres">
      <dgm:prSet presAssocID="{D3944190-8C7B-48C1-8C50-4D0157B897D7}" presName="rect1" presStyleLbl="trAlignAcc1" presStyleIdx="2" presStyleCnt="3" custScaleX="178480" custScaleY="196365" custLinFactNeighborX="-2650" custLinFactNeighborY="3224">
        <dgm:presLayoutVars>
          <dgm:bulletEnabled val="1"/>
        </dgm:presLayoutVars>
      </dgm:prSet>
      <dgm:spPr/>
    </dgm:pt>
    <dgm:pt modelId="{6597EF5F-D045-4DAC-8D52-155A908E5EE5}" type="pres">
      <dgm:prSet presAssocID="{D3944190-8C7B-48C1-8C50-4D0157B897D7}" presName="rect2" presStyleLbl="fgImgPlace1" presStyleIdx="2" presStyleCnt="3" custFlipVert="0" custFlipHor="1" custScaleX="5440" custScaleY="7739" custLinFactX="-73554" custLinFactNeighborX="-100000" custLinFactNeighborY="-54397"/>
      <dgm:spPr/>
    </dgm:pt>
  </dgm:ptLst>
  <dgm:cxnLst>
    <dgm:cxn modelId="{CD488010-51C7-400F-B0D1-91EDAAC00FF7}" srcId="{32CDB569-D76D-4634-89A7-BDF9CDC45BF1}" destId="{3F49022C-79F8-488B-B7BB-4E025C1895A8}" srcOrd="1" destOrd="0" parTransId="{153FC8AE-3CDE-4F16-8580-527ED63DCEC0}" sibTransId="{50BE3CFF-42C4-4BC0-9D84-F1744DB6FA5D}"/>
    <dgm:cxn modelId="{E519BD2F-E7D8-464E-B5EE-FE4594D546F2}" srcId="{32CDB569-D76D-4634-89A7-BDF9CDC45BF1}" destId="{25918E66-A8B5-4766-AEDA-55400E1C1241}" srcOrd="0" destOrd="0" parTransId="{E98D6B41-2A2A-4ADE-9023-BFCE07B0A6D4}" sibTransId="{D6AB6520-2E2F-4CC5-89BC-02FA12C09182}"/>
    <dgm:cxn modelId="{CB41053A-E6CD-4C13-AC4E-9AB1DEF08C6A}" type="presOf" srcId="{32CDB569-D76D-4634-89A7-BDF9CDC45BF1}" destId="{22C63AA9-7140-4790-AC36-9BE6859B3310}" srcOrd="0" destOrd="0" presId="urn:microsoft.com/office/officeart/2008/layout/PictureStrips"/>
    <dgm:cxn modelId="{BD271046-69EE-49F2-BB38-278F0743915C}" type="presOf" srcId="{3F49022C-79F8-488B-B7BB-4E025C1895A8}" destId="{43328182-6E03-4ED9-8CD4-104E4FB27CCF}" srcOrd="0" destOrd="0" presId="urn:microsoft.com/office/officeart/2008/layout/PictureStrips"/>
    <dgm:cxn modelId="{995EFED6-DE82-4597-832D-0C7942D5D3DC}" srcId="{32CDB569-D76D-4634-89A7-BDF9CDC45BF1}" destId="{D3944190-8C7B-48C1-8C50-4D0157B897D7}" srcOrd="2" destOrd="0" parTransId="{59747621-5E22-4602-86CE-F0C74C7F059C}" sibTransId="{A5F41C4C-6B35-429F-8A5D-E33D21C717C5}"/>
    <dgm:cxn modelId="{184E31E6-00CC-423C-923B-DC8908E05707}" type="presOf" srcId="{D3944190-8C7B-48C1-8C50-4D0157B897D7}" destId="{AEACF7CA-537C-4AF9-8C71-05DF92CFD0E9}" srcOrd="0" destOrd="0" presId="urn:microsoft.com/office/officeart/2008/layout/PictureStrips"/>
    <dgm:cxn modelId="{84D9B4ED-BB45-413F-BB8F-BB1C1649A7AB}" type="presOf" srcId="{25918E66-A8B5-4766-AEDA-55400E1C1241}" destId="{5ADADFFA-9406-43A9-BFE6-17226E57FA15}" srcOrd="0" destOrd="0" presId="urn:microsoft.com/office/officeart/2008/layout/PictureStrips"/>
    <dgm:cxn modelId="{AA00DEE5-8A73-4887-A21B-FC5B6616D952}" type="presParOf" srcId="{22C63AA9-7140-4790-AC36-9BE6859B3310}" destId="{D4C99862-DFD6-4191-BB94-B0EEDF0C6EC1}" srcOrd="0" destOrd="0" presId="urn:microsoft.com/office/officeart/2008/layout/PictureStrips"/>
    <dgm:cxn modelId="{B07DAC04-CF11-4A84-A3FB-C4B4971DA243}" type="presParOf" srcId="{D4C99862-DFD6-4191-BB94-B0EEDF0C6EC1}" destId="{5ADADFFA-9406-43A9-BFE6-17226E57FA15}" srcOrd="0" destOrd="0" presId="urn:microsoft.com/office/officeart/2008/layout/PictureStrips"/>
    <dgm:cxn modelId="{3F57E3CC-EA2F-4CFB-9025-2239DDE9F344}" type="presParOf" srcId="{D4C99862-DFD6-4191-BB94-B0EEDF0C6EC1}" destId="{F411013F-BE19-43F2-9E52-38B7CBE946E0}" srcOrd="1" destOrd="0" presId="urn:microsoft.com/office/officeart/2008/layout/PictureStrips"/>
    <dgm:cxn modelId="{620FC0F7-175D-48CC-B065-FB15E1DF28AE}" type="presParOf" srcId="{22C63AA9-7140-4790-AC36-9BE6859B3310}" destId="{031A148A-630F-41F8-99C4-FB4BC26165A6}" srcOrd="1" destOrd="0" presId="urn:microsoft.com/office/officeart/2008/layout/PictureStrips"/>
    <dgm:cxn modelId="{15629616-BA5F-4D43-920F-15A598C3A4F0}" type="presParOf" srcId="{22C63AA9-7140-4790-AC36-9BE6859B3310}" destId="{91F59840-4B5E-4AF8-9589-FA319F2527C6}" srcOrd="2" destOrd="0" presId="urn:microsoft.com/office/officeart/2008/layout/PictureStrips"/>
    <dgm:cxn modelId="{47B2C380-435F-4E15-9EC0-A3AB8B5397DF}" type="presParOf" srcId="{91F59840-4B5E-4AF8-9589-FA319F2527C6}" destId="{43328182-6E03-4ED9-8CD4-104E4FB27CCF}" srcOrd="0" destOrd="0" presId="urn:microsoft.com/office/officeart/2008/layout/PictureStrips"/>
    <dgm:cxn modelId="{A9554603-83A5-48B9-B435-44F9B16CBFB4}" type="presParOf" srcId="{91F59840-4B5E-4AF8-9589-FA319F2527C6}" destId="{769F5C34-5256-48BC-BC38-21EC9E8DFC90}" srcOrd="1" destOrd="0" presId="urn:microsoft.com/office/officeart/2008/layout/PictureStrips"/>
    <dgm:cxn modelId="{18F71E58-897B-4503-AE17-900617C92EF3}" type="presParOf" srcId="{22C63AA9-7140-4790-AC36-9BE6859B3310}" destId="{64AE1EBC-75F3-47DF-BE5D-C224AEC202E0}" srcOrd="3" destOrd="0" presId="urn:microsoft.com/office/officeart/2008/layout/PictureStrips"/>
    <dgm:cxn modelId="{DFEFC8DA-29DC-4A40-B9EA-42575693C14F}" type="presParOf" srcId="{22C63AA9-7140-4790-AC36-9BE6859B3310}" destId="{4048ECF3-BD0B-42EA-AB9C-F3781BEAB854}" srcOrd="4" destOrd="0" presId="urn:microsoft.com/office/officeart/2008/layout/PictureStrips"/>
    <dgm:cxn modelId="{8E368CDD-0CFC-4B69-8D13-C6CD04C5D41E}" type="presParOf" srcId="{4048ECF3-BD0B-42EA-AB9C-F3781BEAB854}" destId="{AEACF7CA-537C-4AF9-8C71-05DF92CFD0E9}" srcOrd="0" destOrd="0" presId="urn:microsoft.com/office/officeart/2008/layout/PictureStrips"/>
    <dgm:cxn modelId="{9A51DF29-5ABF-4F0D-93F6-2E465BEC7026}" type="presParOf" srcId="{4048ECF3-BD0B-42EA-AB9C-F3781BEAB854}" destId="{6597EF5F-D045-4DAC-8D52-155A908E5EE5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B9C1E-7870-4411-A636-BD88B261251A}">
      <dsp:nvSpPr>
        <dsp:cNvPr id="0" name=""/>
        <dsp:cNvSpPr/>
      </dsp:nvSpPr>
      <dsp:spPr>
        <a:xfrm>
          <a:off x="0" y="10891"/>
          <a:ext cx="8229600" cy="220925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FC3887-C16D-4F84-B082-F1BAE98F899C}">
      <dsp:nvSpPr>
        <dsp:cNvPr id="0" name=""/>
        <dsp:cNvSpPr/>
      </dsp:nvSpPr>
      <dsp:spPr>
        <a:xfrm>
          <a:off x="331498" y="294567"/>
          <a:ext cx="2364563" cy="162012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5000" r="-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D22E54-CE78-471B-BBB6-1EBE87F85628}">
      <dsp:nvSpPr>
        <dsp:cNvPr id="0" name=""/>
        <dsp:cNvSpPr/>
      </dsp:nvSpPr>
      <dsp:spPr>
        <a:xfrm rot="10800000">
          <a:off x="249424" y="2209255"/>
          <a:ext cx="2528711" cy="2700201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🍛 Needs: Food, Water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🎮 Wants: Toys, Chocolates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👉 Example: Books = Need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Headphones = Want</a:t>
          </a:r>
          <a:endParaRPr lang="en-IN" sz="1800" kern="1200" dirty="0"/>
        </a:p>
      </dsp:txBody>
      <dsp:txXfrm rot="10800000">
        <a:off x="327191" y="2209255"/>
        <a:ext cx="2373177" cy="2622434"/>
      </dsp:txXfrm>
    </dsp:sp>
    <dsp:sp modelId="{80FC4497-A368-436A-BC46-805661AA5EE1}">
      <dsp:nvSpPr>
        <dsp:cNvPr id="0" name=""/>
        <dsp:cNvSpPr/>
      </dsp:nvSpPr>
      <dsp:spPr>
        <a:xfrm>
          <a:off x="3014592" y="294567"/>
          <a:ext cx="2364563" cy="162012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21000" r="-21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FD6A5-A789-41AE-A05A-863C7AD03DE5}">
      <dsp:nvSpPr>
        <dsp:cNvPr id="0" name=""/>
        <dsp:cNvSpPr/>
      </dsp:nvSpPr>
      <dsp:spPr>
        <a:xfrm rot="10800000">
          <a:off x="3014592" y="2209255"/>
          <a:ext cx="2364563" cy="2700201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Asset: Gives money Liability: Takes money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👉 Example: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Gold = Asset</a:t>
          </a:r>
        </a:p>
      </dsp:txBody>
      <dsp:txXfrm rot="10800000">
        <a:off x="3087310" y="2209255"/>
        <a:ext cx="2219127" cy="2627483"/>
      </dsp:txXfrm>
    </dsp:sp>
    <dsp:sp modelId="{8E1E778C-B206-4520-B74B-FED6BA453322}">
      <dsp:nvSpPr>
        <dsp:cNvPr id="0" name=""/>
        <dsp:cNvSpPr/>
      </dsp:nvSpPr>
      <dsp:spPr>
        <a:xfrm>
          <a:off x="5615612" y="294567"/>
          <a:ext cx="2364563" cy="162012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l="-10000" r="-1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8B853-B98A-4211-B6E8-BA1EEAEEDD17}">
      <dsp:nvSpPr>
        <dsp:cNvPr id="0" name=""/>
        <dsp:cNvSpPr/>
      </dsp:nvSpPr>
      <dsp:spPr>
        <a:xfrm rot="10800000">
          <a:off x="5615612" y="2209255"/>
          <a:ext cx="2364563" cy="2700201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📌 Importance of Saving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Save ₹10 daily → ₹300/month</a:t>
          </a:r>
          <a:endParaRPr lang="en-IN" sz="1800" kern="1200" dirty="0"/>
        </a:p>
      </dsp:txBody>
      <dsp:txXfrm rot="10800000">
        <a:off x="5688330" y="2209255"/>
        <a:ext cx="2219127" cy="26274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DADFFA-9406-43A9-BFE6-17226E57FA15}">
      <dsp:nvSpPr>
        <dsp:cNvPr id="0" name=""/>
        <dsp:cNvSpPr/>
      </dsp:nvSpPr>
      <dsp:spPr>
        <a:xfrm>
          <a:off x="162550" y="0"/>
          <a:ext cx="3842194" cy="175169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265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🛡️Moat:-A strong advantage that protects a company from competitors Like a castle moat 🏰  keeps enemies away</a:t>
          </a:r>
          <a:endParaRPr lang="en-IN" sz="1900" kern="1200" dirty="0"/>
        </a:p>
      </dsp:txBody>
      <dsp:txXfrm>
        <a:off x="162550" y="0"/>
        <a:ext cx="3842194" cy="1751692"/>
      </dsp:txXfrm>
    </dsp:sp>
    <dsp:sp modelId="{F411013F-BE19-43F2-9E52-38B7CBE946E0}">
      <dsp:nvSpPr>
        <dsp:cNvPr id="0" name=""/>
        <dsp:cNvSpPr/>
      </dsp:nvSpPr>
      <dsp:spPr>
        <a:xfrm>
          <a:off x="0" y="263409"/>
          <a:ext cx="840480" cy="1260720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66000" r="-66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28182-6E03-4ED9-8CD4-104E4FB27CCF}">
      <dsp:nvSpPr>
        <dsp:cNvPr id="0" name=""/>
        <dsp:cNvSpPr/>
      </dsp:nvSpPr>
      <dsp:spPr>
        <a:xfrm>
          <a:off x="4286970" y="0"/>
          <a:ext cx="3842194" cy="1838778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265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💡Helps company stay ahead of competitors Earn profits for long time</a:t>
          </a:r>
          <a:endParaRPr lang="en-IN" sz="1900" kern="1200" dirty="0"/>
        </a:p>
      </dsp:txBody>
      <dsp:txXfrm>
        <a:off x="4286970" y="0"/>
        <a:ext cx="3842194" cy="1838778"/>
      </dsp:txXfrm>
    </dsp:sp>
    <dsp:sp modelId="{769F5C34-5256-48BC-BC38-21EC9E8DFC90}">
      <dsp:nvSpPr>
        <dsp:cNvPr id="0" name=""/>
        <dsp:cNvSpPr/>
      </dsp:nvSpPr>
      <dsp:spPr>
        <a:xfrm>
          <a:off x="4224855" y="241636"/>
          <a:ext cx="840480" cy="1260720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49000" r="-49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CF7CA-537C-4AF9-8C71-05DF92CFD0E9}">
      <dsp:nvSpPr>
        <dsp:cNvPr id="0" name=""/>
        <dsp:cNvSpPr/>
      </dsp:nvSpPr>
      <dsp:spPr>
        <a:xfrm>
          <a:off x="584207" y="2110923"/>
          <a:ext cx="6857548" cy="235772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265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🚧 Types of Moat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⭐ Brand Power (e.g., famous companies)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💰 Cost Advantage (cheaper production)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🔐 Switching Cost (hard to change service)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🌐 Network Effect (more users = more value)</a:t>
          </a:r>
          <a:endParaRPr lang="en-IN" sz="1900" kern="1200" dirty="0"/>
        </a:p>
      </dsp:txBody>
      <dsp:txXfrm>
        <a:off x="584207" y="2110923"/>
        <a:ext cx="6857548" cy="2357726"/>
      </dsp:txXfrm>
    </dsp:sp>
    <dsp:sp modelId="{6597EF5F-D045-4DAC-8D52-155A908E5EE5}">
      <dsp:nvSpPr>
        <dsp:cNvPr id="0" name=""/>
        <dsp:cNvSpPr/>
      </dsp:nvSpPr>
      <dsp:spPr>
        <a:xfrm flipH="1">
          <a:off x="972303" y="2373083"/>
          <a:ext cx="45722" cy="97567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AE2162-C396-4F15-8779-0AE59E4ECFF6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C2FFE-6D31-43B8-AD65-4E97F4AB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19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e-niyamalabs.com" TargetMode="External"/><Relationship Id="rId2" Type="http://schemas.openxmlformats.org/officeDocument/2006/relationships/hyperlink" Target="http://www.e-niyamalabs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044E-BB39-D4B9-ED04-AC0DFB551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57450"/>
            <a:ext cx="9144000" cy="1929661"/>
          </a:xfrm>
        </p:spPr>
        <p:txBody>
          <a:bodyPr anchor="b">
            <a:normAutofit/>
          </a:bodyPr>
          <a:lstStyle>
            <a:lvl1pPr algn="ctr">
              <a:defRPr sz="5400" baseline="0">
                <a:solidFill>
                  <a:schemeClr val="tx2">
                    <a:lumMod val="75000"/>
                    <a:lumOff val="25000"/>
                  </a:schemeClr>
                </a:solidFill>
                <a:latin typeface="Walbaum Display" panose="02070503090703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0118C-250B-EB55-404D-73E03CA27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419602"/>
            <a:ext cx="9144000" cy="981074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  <a:latin typeface="Walbaum Display" panose="02070503090703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9E94D5-042A-2E92-77FC-6B16A287A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89220" y="495299"/>
            <a:ext cx="2013559" cy="192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94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044E-BB39-D4B9-ED04-AC0DFB5516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697165"/>
            <a:ext cx="9144000" cy="1929661"/>
          </a:xfrm>
        </p:spPr>
        <p:txBody>
          <a:bodyPr anchor="b">
            <a:normAutofit/>
          </a:bodyPr>
          <a:lstStyle>
            <a:lvl1pPr algn="ctr">
              <a:defRPr sz="5400" baseline="0">
                <a:solidFill>
                  <a:schemeClr val="tx2">
                    <a:lumMod val="75000"/>
                    <a:lumOff val="25000"/>
                  </a:schemeClr>
                </a:solidFill>
                <a:latin typeface="Walbaum Display" panose="02070503090703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9E94D5-042A-2E92-77FC-6B16A287A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89219" y="1494260"/>
            <a:ext cx="2013559" cy="192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4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65A9A-0CCB-B24B-D04E-63BED9C65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132FE-5D3E-3361-FE20-9197443E1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166A19-E515-9E57-30B6-E0A5A4C4FC91}"/>
              </a:ext>
            </a:extLst>
          </p:cNvPr>
          <p:cNvCxnSpPr/>
          <p:nvPr userDrawn="1"/>
        </p:nvCxnSpPr>
        <p:spPr>
          <a:xfrm>
            <a:off x="-17680" y="944563"/>
            <a:ext cx="75946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FED16FC-2FE5-A4D8-B17C-E56D982FD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812F224-233A-ABD3-EA4E-7B70636C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4E6223A-5BC9-5A86-F38E-A7F1FB2A6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223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469AAC-3C4F-4427-46D2-6C8E4EF818FC}"/>
              </a:ext>
            </a:extLst>
          </p:cNvPr>
          <p:cNvSpPr/>
          <p:nvPr userDrawn="1"/>
        </p:nvSpPr>
        <p:spPr>
          <a:xfrm>
            <a:off x="965200" y="355600"/>
            <a:ext cx="10337800" cy="5511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A2B0A-90E3-9886-A69D-00C969F5F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5200" y="4263391"/>
            <a:ext cx="10337800" cy="160401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681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ECF4E-5EB9-4A8B-2DAE-7B630536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CF945-599C-D2D2-CFF3-E6C29F8BC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C846CE-E7B3-D00D-157B-BABFFDAF2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6A4D38-E6E9-318D-096F-C781F72E3B61}"/>
              </a:ext>
            </a:extLst>
          </p:cNvPr>
          <p:cNvCxnSpPr/>
          <p:nvPr userDrawn="1"/>
        </p:nvCxnSpPr>
        <p:spPr>
          <a:xfrm>
            <a:off x="-17680" y="944563"/>
            <a:ext cx="75946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04FA8ACE-0DFD-74C6-FB05-F62967FD7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D719029-D306-2337-69CD-C7D2F155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54DEEA-9BC4-FFFF-8EA6-DE73FF8E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5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1C073-790A-A874-EC1B-E77084E0A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4BCF1-C403-7766-5248-F79B43D53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1177B-104C-D336-ADAA-8EBCE0A97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025C9C-E04E-E175-D724-C37895731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0A334-A8E7-E536-881D-DAB8782F5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C3296E3-C358-AF31-BD6E-B246D3A31611}"/>
              </a:ext>
            </a:extLst>
          </p:cNvPr>
          <p:cNvCxnSpPr/>
          <p:nvPr userDrawn="1"/>
        </p:nvCxnSpPr>
        <p:spPr>
          <a:xfrm>
            <a:off x="0" y="1681163"/>
            <a:ext cx="75946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C359774-BAA5-8DC4-1F21-956E1131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9C35416-1A1B-D717-4CD0-4BD93425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6BB46B7-CEF5-83CF-A130-75B0EDDC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58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687CE-781D-1F6C-F915-1C0DFF94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A591C0-D345-F661-05AE-2C5B40126BA1}"/>
              </a:ext>
            </a:extLst>
          </p:cNvPr>
          <p:cNvCxnSpPr/>
          <p:nvPr userDrawn="1"/>
        </p:nvCxnSpPr>
        <p:spPr>
          <a:xfrm>
            <a:off x="-17680" y="944563"/>
            <a:ext cx="75946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7C819-CE00-73C1-958A-5171291F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E6C33-7F8C-8EB8-DB35-16CF4F27C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31DD6-FE31-B759-D4E9-6A639861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44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BB000-066F-17B7-B11F-352784016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0F61-C529-7633-48CE-229904A5B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D00B2-D5CB-96BB-469A-B687C5FE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91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47E1-9C94-AD32-E3F1-263790ED9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FB60C-5AF5-B520-96C0-EE5AD4E4B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CBA58-C84D-3C53-A949-632D5B9F7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1E1B239-F7BD-D897-522E-58A96D102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8C02066-40DB-6102-4FF0-577AF6FD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5B49221-C6D8-1AC1-3BAA-DF3221C5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74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22E2C-BD0A-D2D0-1959-212270519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6043C9-15FC-BD4B-436B-EC098AE4D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8A923-6C64-9847-69AA-E0D779DA5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864CDE6-8799-A2BD-6F82-43C8B6747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E06F7A-E67B-1B2F-44EE-C7CA90B9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D6EC10B-66D1-8A3F-87F6-0FDF67B9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9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866F7-90C4-8BB9-563B-40743DF8D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51852-7495-E0EC-0328-E19492F8F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5B8971-ADCC-2E27-FD6F-6E7AF6938191}"/>
              </a:ext>
            </a:extLst>
          </p:cNvPr>
          <p:cNvCxnSpPr/>
          <p:nvPr userDrawn="1"/>
        </p:nvCxnSpPr>
        <p:spPr>
          <a:xfrm>
            <a:off x="-17680" y="944563"/>
            <a:ext cx="75946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FF253EA-8265-F082-61C2-AE87B7AB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7203FB-4086-B558-0E57-0898FC3C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180737-498C-7ACD-325D-3059A9DA5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031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92E5E-1735-B582-94DD-E56D99454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A92AD-19B5-2CAC-6CC1-9A0797D2F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FF0E0-5DAF-A034-7C22-A2254CEB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69975-9167-CEEE-FB1E-64B4EB16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8C7B05-32AB-1A58-8CE3-0E9BBBF3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8381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87A41A-64A8-ECAB-98FE-7D4187D27059}"/>
              </a:ext>
            </a:extLst>
          </p:cNvPr>
          <p:cNvSpPr txBox="1"/>
          <p:nvPr userDrawn="1"/>
        </p:nvSpPr>
        <p:spPr>
          <a:xfrm>
            <a:off x="2084130" y="3308122"/>
            <a:ext cx="8023739" cy="304698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rPr lang="en-IN" sz="2400" dirty="0"/>
              <a:t>📍 e-Niyama Labs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endParaRPr lang="en-IN" sz="24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N" sz="2400" dirty="0"/>
              <a:t>Website: </a:t>
            </a:r>
            <a:r>
              <a:rPr lang="en-IN" sz="2400" dirty="0">
                <a:hlinkClick r:id="rId2"/>
              </a:rPr>
              <a:t>www.e-niyamalabs.com</a:t>
            </a:r>
            <a:endParaRPr lang="en-IN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3C3C3C"/>
                </a:solidFill>
              </a:defRPr>
            </a:pPr>
            <a:r>
              <a:rPr lang="en-IN" sz="2400" dirty="0"/>
              <a:t>Email: </a:t>
            </a:r>
            <a:r>
              <a:rPr lang="en-IN" sz="2400" dirty="0">
                <a:hlinkClick r:id="rId3"/>
              </a:rPr>
              <a:t>info@e-niyamalabs.com</a:t>
            </a:r>
            <a:endParaRPr lang="en-IN" sz="2400" dirty="0"/>
          </a:p>
          <a:p>
            <a:pPr>
              <a:defRPr sz="1800">
                <a:solidFill>
                  <a:srgbClr val="3C3C3C"/>
                </a:solidFill>
              </a:defRPr>
            </a:pPr>
            <a:endParaRPr lang="en-IN" sz="2400" dirty="0"/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N" sz="2400" dirty="0"/>
              <a:t>Address :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rPr lang="en-IN" sz="2400" dirty="0"/>
              <a:t>e-Niyama Labs Pvt Ltd, No. 595, Sri Saila, 1st Floor, Andra Halli Main Road, Bangalore, Karnataka 560091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0F2343-A037-61AF-F2C9-DC861644677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84130" y="1063869"/>
            <a:ext cx="8023739" cy="216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9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White presentation background Vectors - Download Free High-Quality ...">
            <a:extLst>
              <a:ext uri="{FF2B5EF4-FFF2-40B4-BE49-F238E27FC236}">
                <a16:creationId xmlns:a16="http://schemas.microsoft.com/office/drawing/2014/main" id="{F59104B7-66FB-AEDB-963B-1AF5CD98AC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43233"/>
            <a:ext cx="12192000" cy="7055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F1F4F-8E4D-22AB-CCC2-B0B3CD88A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90" y="152400"/>
            <a:ext cx="11487150" cy="7962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75536-8F6F-803C-E82C-2F61FB41B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190" y="1053274"/>
            <a:ext cx="11487150" cy="4958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ECDFC-0927-A7A5-6F85-9F6FA18DC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71344" y="6200775"/>
            <a:ext cx="1540933" cy="612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46792-A8B8-67F1-41CC-D5598C16D7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2605" y="6200775"/>
            <a:ext cx="6654800" cy="612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39A05-171E-0894-7655-32467D531DE3}"/>
              </a:ext>
            </a:extLst>
          </p:cNvPr>
          <p:cNvSpPr/>
          <p:nvPr userDrawn="1"/>
        </p:nvSpPr>
        <p:spPr>
          <a:xfrm>
            <a:off x="11864340" y="-143232"/>
            <a:ext cx="377190" cy="7055388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2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2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A5EE494-2A29-639F-1FB4-B374ABE43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2276" y="6200775"/>
            <a:ext cx="809824" cy="612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24BC2-7A3D-4CCE-BD92-1A011193805E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906EF5F-9B1B-D788-B2BD-F63417069642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5389" y="6214715"/>
            <a:ext cx="2428667" cy="65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96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541338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804863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804863" indent="269875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1252538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292" userDrawn="1">
          <p15:clr>
            <a:srgbClr val="F26B43"/>
          </p15:clr>
        </p15:guide>
        <p15:guide id="5" orient="horz" pos="595" userDrawn="1">
          <p15:clr>
            <a:srgbClr val="F26B43"/>
          </p15:clr>
        </p15:guide>
        <p15:guide id="6" orient="horz" pos="3906" userDrawn="1">
          <p15:clr>
            <a:srgbClr val="F26B43"/>
          </p15:clr>
        </p15:guide>
        <p15:guide id="7" orient="horz" pos="663" userDrawn="1">
          <p15:clr>
            <a:srgbClr val="F26B43"/>
          </p15:clr>
        </p15:guide>
        <p15:guide id="8" orient="horz" pos="3793" userDrawn="1">
          <p15:clr>
            <a:srgbClr val="F26B43"/>
          </p15:clr>
        </p15:guide>
        <p15:guide id="9" pos="121" userDrawn="1">
          <p15:clr>
            <a:srgbClr val="F26B43"/>
          </p15:clr>
        </p15:guide>
        <p15:guide id="10" pos="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1571450-30DF-2A87-76F2-67B31BE5E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95879"/>
            <a:ext cx="9144000" cy="1929661"/>
          </a:xfrm>
        </p:spPr>
        <p:txBody>
          <a:bodyPr>
            <a:normAutofit fontScale="90000"/>
          </a:bodyPr>
          <a:lstStyle/>
          <a:p>
            <a:br>
              <a:rPr lang="en-IN" sz="7300" dirty="0"/>
            </a:br>
            <a:r>
              <a:rPr lang="en-IN" sz="7300" dirty="0"/>
              <a:t>e-Niyama Academia</a:t>
            </a:r>
            <a:br>
              <a:rPr lang="en-IN" sz="7300" dirty="0"/>
            </a:br>
            <a:r>
              <a:rPr lang="en-IN" sz="2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Basics to Brilliance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8204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306"/>
    </mc:Choice>
    <mc:Fallback>
      <p:transition advClick="0" advTm="130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D49D6-EA77-32DB-4296-15ACB62FA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90" y="152400"/>
            <a:ext cx="11487150" cy="796290"/>
          </a:xfrm>
        </p:spPr>
        <p:txBody>
          <a:bodyPr/>
          <a:lstStyle/>
          <a:p>
            <a:r>
              <a:rPr lang="en-IN" b="1" dirty="0"/>
              <a:t>Summer Camp – Financial Literacy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0B42E9-3412-27C2-E517-E044D61A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1344" y="6200775"/>
            <a:ext cx="1540933" cy="612774"/>
          </a:xfrm>
        </p:spPr>
        <p:txBody>
          <a:bodyPr/>
          <a:lstStyle/>
          <a:p>
            <a:fld id="{92A2D3BC-ED47-4F41-8AFB-391CB12EED8E}" type="datetime4">
              <a:rPr lang="en-IN" smtClean="0"/>
              <a:pPr/>
              <a:t>15 April 2026</a:t>
            </a:fld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31FEF-374C-7E44-7ADC-F5BB4467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2276" y="6200775"/>
            <a:ext cx="809824" cy="612773"/>
          </a:xfrm>
        </p:spPr>
        <p:txBody>
          <a:bodyPr/>
          <a:lstStyle/>
          <a:p>
            <a:fld id="{8EA24BC2-7A3D-4CCE-BD92-1A011193805E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D40A8A0F-F00E-919F-050F-AA014FB29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171" y="1311751"/>
            <a:ext cx="668382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09027"/>
      </p:ext>
    </p:extLst>
  </p:cSld>
  <p:clrMapOvr>
    <a:masterClrMapping/>
  </p:clrMapOvr>
  <p:transition spd="slow" advClick="0" advTm="833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6257-A4D4-4C5E-BEEC-552FDCF0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5D641-9BB1-103A-FD46-E40193FD52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Money Basics</a:t>
            </a:r>
          </a:p>
          <a:p>
            <a:r>
              <a:rPr lang="en-US" dirty="0"/>
              <a:t>Budgeting Skills</a:t>
            </a:r>
          </a:p>
          <a:p>
            <a:r>
              <a:rPr lang="en-US" dirty="0"/>
              <a:t>Saving &amp; Banking</a:t>
            </a:r>
          </a:p>
          <a:p>
            <a:r>
              <a:rPr lang="en-US" dirty="0"/>
              <a:t>Smart Spending</a:t>
            </a:r>
          </a:p>
          <a:p>
            <a:r>
              <a:rPr lang="en-US" dirty="0"/>
              <a:t>Investment Basics</a:t>
            </a:r>
          </a:p>
          <a:p>
            <a:r>
              <a:rPr lang="en-US" dirty="0"/>
              <a:t>Moat</a:t>
            </a:r>
          </a:p>
          <a:p>
            <a:r>
              <a:rPr lang="en-US" dirty="0"/>
              <a:t>Conclusion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BD79A-1BE6-3392-0F37-DFA61B81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17AF-DA33-A686-729D-F8267986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3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DE5480-869B-A087-8403-CD14EE64AE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84371" y="1665514"/>
            <a:ext cx="4250191" cy="35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1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15A8-3FA1-34DA-6533-F0546424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</a:t>
            </a:r>
            <a:r>
              <a:rPr lang="en-IN" b="1" dirty="0"/>
              <a:t>. Money Basics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C5933F-8843-60C6-6B79-06BCEA2DB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6DDBA-F815-6709-C11C-2A45AF6A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A72A920-7B68-7833-9C8A-5EFBE93FB9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8421733"/>
              </p:ext>
            </p:extLst>
          </p:nvPr>
        </p:nvGraphicFramePr>
        <p:xfrm>
          <a:off x="1621972" y="1291318"/>
          <a:ext cx="8229600" cy="4909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127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E72B2-FEF8-2BA5-B6F7-D2BF7372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</a:t>
            </a:r>
            <a:r>
              <a:rPr lang="en-IN" b="1" dirty="0"/>
              <a:t>Budgeting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24FE7-FBC5-0C22-CE34-42D6CF6560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🛒 Scenario: Grocery Budget Planning</a:t>
            </a:r>
          </a:p>
          <a:p>
            <a:r>
              <a:rPr lang="en-GB" dirty="0"/>
              <a:t>A family plans to spend</a:t>
            </a:r>
          </a:p>
          <a:p>
            <a:pPr marL="0" indent="0">
              <a:buNone/>
            </a:pPr>
            <a:r>
              <a:rPr lang="en-GB" dirty="0"/>
              <a:t> ₹1000 on groceries</a:t>
            </a:r>
          </a:p>
          <a:p>
            <a:pPr marL="0" indent="0">
              <a:buNone/>
            </a:pPr>
            <a:r>
              <a:rPr lang="en-GB" dirty="0"/>
              <a:t>  for the week.</a:t>
            </a:r>
            <a:endParaRPr lang="en-GB" b="1" dirty="0"/>
          </a:p>
          <a:p>
            <a:r>
              <a:rPr lang="en-GB" dirty="0"/>
              <a:t>They divide the money</a:t>
            </a:r>
          </a:p>
          <a:p>
            <a:pPr marL="0" indent="0">
              <a:buNone/>
            </a:pPr>
            <a:r>
              <a:rPr lang="en-GB" dirty="0"/>
              <a:t> into </a:t>
            </a:r>
            <a:r>
              <a:rPr lang="en-GB" b="1" dirty="0"/>
              <a:t>Spend </a:t>
            </a:r>
            <a:r>
              <a:rPr lang="en-GB" dirty="0"/>
              <a:t>and </a:t>
            </a:r>
            <a:r>
              <a:rPr lang="en-GB" b="1" dirty="0"/>
              <a:t>Save</a:t>
            </a:r>
            <a:r>
              <a:rPr lang="en-GB" dirty="0"/>
              <a:t> to </a:t>
            </a:r>
          </a:p>
          <a:p>
            <a:pPr marL="0" indent="0">
              <a:buNone/>
            </a:pPr>
            <a:r>
              <a:rPr lang="en-GB" dirty="0"/>
              <a:t> manage their budget wisely.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A9157-9EE9-1E42-0241-525FFB33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96D72-3DD9-62C1-7D4D-C2884BF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5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3003C4-3932-9CF9-9FBF-A10DA3407E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59286" y="1825625"/>
            <a:ext cx="4032690" cy="367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5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A2A9-600D-F689-BB3F-EE127601B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Budget Planning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1C0B4-9D27-64E9-9EAE-97AA5B7CF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/>
              <a:pPr/>
              <a:t>15 April 2026</a:t>
            </a:fld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47B8F-58A4-72BC-A19A-B5ACCDD7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927FD2-4DCC-A4BD-5F95-942E8C523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630" y="1164772"/>
            <a:ext cx="8706352" cy="4278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17DDF6-B6DB-CCF4-BB8C-C99FBA4734D0}"/>
              </a:ext>
            </a:extLst>
          </p:cNvPr>
          <p:cNvSpPr txBox="1"/>
          <p:nvPr/>
        </p:nvSpPr>
        <p:spPr>
          <a:xfrm>
            <a:off x="892630" y="5554444"/>
            <a:ext cx="8706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Planning your budget helps avoid overspending and increases savings.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2369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A1CE-EED2-6EEC-7CD1-18A2B97B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</a:t>
            </a:r>
            <a:r>
              <a:rPr lang="en-IN" b="1" dirty="0"/>
              <a:t>. Budgeting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D0C7D-B438-4EC5-C1D7-F60BEAE2C6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📊 Monthly</a:t>
            </a:r>
          </a:p>
          <a:p>
            <a:pPr marL="0" indent="0">
              <a:buNone/>
            </a:pPr>
            <a:r>
              <a:rPr lang="en-GB" dirty="0"/>
              <a:t> Budget Planning</a:t>
            </a:r>
          </a:p>
          <a:p>
            <a:r>
              <a:rPr lang="en-GB" dirty="0"/>
              <a:t>Track income and</a:t>
            </a:r>
          </a:p>
          <a:p>
            <a:pPr marL="0" indent="0">
              <a:buNone/>
            </a:pPr>
            <a:r>
              <a:rPr lang="en-GB" dirty="0"/>
              <a:t> expenses</a:t>
            </a:r>
          </a:p>
          <a:p>
            <a:r>
              <a:rPr lang="en-GB" dirty="0"/>
              <a:t>👉 Like managing</a:t>
            </a:r>
          </a:p>
          <a:p>
            <a:pPr marL="0" indent="0">
              <a:buNone/>
            </a:pPr>
            <a:r>
              <a:rPr lang="en-GB" dirty="0"/>
              <a:t> mobile data 📱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F7C96-9E81-01EC-1ED8-E85E8DE8E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EC5DA-4C26-819D-16B0-A0D9CE1A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7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CB025DA-88F3-1DFD-0595-63EB72367B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25245" y="1614499"/>
            <a:ext cx="6291943" cy="3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46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71FA-2CBF-16F5-E3F9-4A4A3FD55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</a:t>
            </a:r>
            <a:r>
              <a:rPr lang="en-IN" b="1" dirty="0"/>
              <a:t>. Saving &amp; Banking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CB797-0102-1D23-B06F-64861F9F96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🏦 Bank vs Piggy Bank</a:t>
            </a:r>
          </a:p>
          <a:p>
            <a:r>
              <a:rPr lang="en-GB" dirty="0"/>
              <a:t>Safe storage + Interest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📲 Digital Payments</a:t>
            </a:r>
          </a:p>
          <a:p>
            <a:r>
              <a:rPr lang="en-GB" dirty="0"/>
              <a:t>UPI, Cards</a:t>
            </a:r>
          </a:p>
          <a:p>
            <a:r>
              <a:rPr lang="en-GB" dirty="0"/>
              <a:t>👉 Pay using </a:t>
            </a:r>
          </a:p>
          <a:p>
            <a:pPr marL="0" indent="0">
              <a:buNone/>
            </a:pPr>
            <a:r>
              <a:rPr lang="en-GB" dirty="0"/>
              <a:t>   phone instead of cash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DCBE0-FF09-4D8A-16B6-A48A4D18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0CB63-B05E-D178-8A42-F76236E3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8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2B93337-17CF-272B-5E6D-E1CD81D9A4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039172"/>
            <a:ext cx="3000794" cy="2838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B3A84A-2C9A-5798-2BB4-ACBDAFA6C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878018"/>
            <a:ext cx="3624943" cy="203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79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F6F61-0310-51E6-3B2E-D6BDCC9E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</a:t>
            </a:r>
            <a:r>
              <a:rPr lang="en-IN" b="1" dirty="0"/>
              <a:t>Smart Spending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A306D-23AF-9FEF-C83C-26F76FC2E1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🧠 Think Before Buying</a:t>
            </a:r>
          </a:p>
          <a:p>
            <a:r>
              <a:rPr lang="en-IN" dirty="0"/>
              <a:t>Ask: Do I really need this?</a:t>
            </a:r>
          </a:p>
          <a:p>
            <a:endParaRPr lang="en-IN" dirty="0"/>
          </a:p>
          <a:p>
            <a:r>
              <a:rPr lang="en-IN" dirty="0"/>
              <a:t>⚠️ Avoid Impulse Buying</a:t>
            </a:r>
          </a:p>
          <a:p>
            <a:r>
              <a:rPr lang="en-IN" dirty="0"/>
              <a:t>👉 Buying snacks without thinking</a:t>
            </a:r>
          </a:p>
          <a:p>
            <a:endParaRPr lang="en-IN" dirty="0"/>
          </a:p>
          <a:p>
            <a:r>
              <a:rPr lang="en-IN" dirty="0"/>
              <a:t>💼 Rich vs Wealthy</a:t>
            </a:r>
          </a:p>
          <a:p>
            <a:r>
              <a:rPr lang="en-IN" dirty="0"/>
              <a:t>Earn vs Grow money</a:t>
            </a:r>
          </a:p>
          <a:p>
            <a:endParaRPr lang="en-IN" dirty="0"/>
          </a:p>
          <a:p>
            <a:r>
              <a:rPr lang="en-IN" dirty="0"/>
              <a:t>👨‍💼 Career Types</a:t>
            </a:r>
          </a:p>
          <a:p>
            <a:r>
              <a:rPr lang="en-IN" dirty="0"/>
              <a:t>Employee | Business | Self-employed | Investor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A17C4-8CEE-58D2-DFDA-1B2467996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19B94-7C49-6801-9342-86341A8B6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9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9C3E9F-5D52-ACF9-E7CA-BF1B7F7EA0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99315" y="1087987"/>
            <a:ext cx="5181600" cy="3126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436BFA-F05F-9813-2344-4E6403B6B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5" y="3988118"/>
            <a:ext cx="4380895" cy="192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4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67247-FDF0-B696-C33A-519A38F69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</a:t>
            </a:r>
            <a:r>
              <a:rPr lang="en-IN" b="1" dirty="0"/>
              <a:t>. Investment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36E81-8ACF-C116-63FB-99A38148B8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🌱 What is Investment?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Money grows like a tree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💰 Saving vs Investing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Safe vs Growth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🚀 Compound Interest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Money grows faster (snowball effect)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📈 SIP &amp; Stocks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 ₹100 regularly  to turn small savings into big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wealth through the power of compounding.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427DA-DE75-26D5-FD7D-411B0647F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35FFF-C25F-5595-2DC6-556F72B4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10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091B20-5C8A-A9F6-082B-43504D179BD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50229" y="1149260"/>
            <a:ext cx="5591581" cy="25192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602DF0-9CFE-557E-7B16-0A3CADE0F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790" y="3801166"/>
            <a:ext cx="2346366" cy="10505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592115-8530-1F9B-EB89-B0D71C6C8C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571" y="3852561"/>
            <a:ext cx="3263354" cy="96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679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E878-9645-2BA7-82E5-CD02720B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</a:t>
            </a:r>
            <a:r>
              <a:rPr lang="en-IN" b="1" dirty="0"/>
              <a:t>Moat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30C7E-8349-725D-84A8-4333803C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0E324-AD33-8E0B-65FA-A8E490FF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11</a:t>
            </a:fld>
            <a:endParaRPr lang="en-IN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B8FDE4C9-A8CE-F586-5911-845689C3FF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648260"/>
              </p:ext>
            </p:extLst>
          </p:nvPr>
        </p:nvGraphicFramePr>
        <p:xfrm>
          <a:off x="1458686" y="1469572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0329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DB04-880E-6BC1-5147-F929B93B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51C19-A984-6A6D-5310-A939E3D13A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📚 Key Takeaways: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Needs vs Wants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Save regularly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Plan spending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Use banks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✔ Invest for future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3F63A-2D83-E57B-B497-DE15BA788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F5DED-F465-44F2-B41D-D836767F8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12</a:t>
            </a:fld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D420EB-5E77-E84A-6B85-789CC67006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50042" y="1148254"/>
            <a:ext cx="3934374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62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C9493-37F0-4247-89DD-B15D01AB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D3BC-ED47-4F41-8AFB-391CB12EED8E}" type="datetime4">
              <a:rPr lang="en-IN" smtClean="0"/>
              <a:t>15 April 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C68A26-F96B-CD33-08D5-69D8FEF5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24BC2-7A3D-4CCE-BD92-1A011193805E}" type="slidenum">
              <a:rPr lang="en-IN" smtClean="0"/>
              <a:t>13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563C95-E5AA-642F-A385-69E5A5DBD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945" y="468086"/>
            <a:ext cx="7554685" cy="54755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4E16F5-A404-2C06-11C3-55720C777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54337"/>
            <a:ext cx="2430456" cy="186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649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7">
    <wetp:webextensionref xmlns:r="http://schemas.openxmlformats.org/officeDocument/2006/relationships" r:id="rId1"/>
  </wetp:taskpane>
  <wetp:taskpane dockstate="right" visibility="0" width="438" row="9">
    <wetp:webextensionref xmlns:r="http://schemas.openxmlformats.org/officeDocument/2006/relationships" r:id="rId2"/>
  </wetp:taskpane>
  <wetp:taskpane dockstate="right" visibility="0" width="438" row="10">
    <wetp:webextensionref xmlns:r="http://schemas.openxmlformats.org/officeDocument/2006/relationships" r:id="rId3"/>
  </wetp:taskpane>
  <wetp:taskpane dockstate="right" visibility="0" width="438" row="11">
    <wetp:webextensionref xmlns:r="http://schemas.openxmlformats.org/officeDocument/2006/relationships" r:id="rId4"/>
  </wetp:taskpane>
</wetp:taskpanes>
</file>

<file path=ppt/webextensions/webextension1.xml><?xml version="1.0" encoding="utf-8"?>
<we:webextension xmlns:we="http://schemas.microsoft.com/office/webextensions/webextension/2010/11" id="{A5F20281-E794-4C38-86D8-DEAD133C9EC4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5EE8630-FFB4-477C-B67E-ABE1EA983ABB}">
  <we:reference id="wa104381411" version="2.4.5.0" store="en-US" storeType="OMEX"/>
  <we:alternateReferences>
    <we:reference id="WA104381411" version="2.4.5.0" store="WA104381411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B3DDE498-CF52-4E66-A0D0-C3254E25FB35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03A7F3D4-AE23-4372-8374-06F8946B5DC7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11014</TotalTime>
  <Words>399</Words>
  <Application>Microsoft Office PowerPoint</Application>
  <PresentationFormat>Widescreen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Walbaum Display</vt:lpstr>
      <vt:lpstr>Wingdings</vt:lpstr>
      <vt:lpstr>Office Theme</vt:lpstr>
      <vt:lpstr> e-Niyama Academia Basics to Brilliance  </vt:lpstr>
      <vt:lpstr>Summer Camp – Financial Literacy</vt:lpstr>
      <vt:lpstr>Overview</vt:lpstr>
      <vt:lpstr>1. Money Basics</vt:lpstr>
      <vt:lpstr>2. Budgeting Skills</vt:lpstr>
      <vt:lpstr>Budget Planning</vt:lpstr>
      <vt:lpstr>2. Budgeting Skills</vt:lpstr>
      <vt:lpstr>3. Saving &amp; Banking</vt:lpstr>
      <vt:lpstr>4. Smart Spending</vt:lpstr>
      <vt:lpstr>5. Investment Basics</vt:lpstr>
      <vt:lpstr>6.Moat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Sanjeeva Kumar K A</dc:creator>
  <cp:lastModifiedBy>umadevi muddalaplli</cp:lastModifiedBy>
  <cp:revision>93</cp:revision>
  <dcterms:created xsi:type="dcterms:W3CDTF">2025-11-08T07:15:11Z</dcterms:created>
  <dcterms:modified xsi:type="dcterms:W3CDTF">2026-04-15T11:40:41Z</dcterms:modified>
</cp:coreProperties>
</file>